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03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E63946">
              <a:alpha val="20000"/>
            </a:srgbClr>
          </a:solidFill>
          <a:ln w="25400">
            <a:solidFill>
              <a:srgbClr val="E6394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658368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402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kern="0" spc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TRAINING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0" y="3675888"/>
            <a:ext cx="27432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• Resist • Report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2232"/>
          </a:solidFill>
          <a:ln w="12700">
            <a:solidFill>
              <a:srgbClr val="16223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  •  Cybersecurity Training Module   •   Muntaha Ghafoor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114800" cy="1005840"/>
          </a:xfrm>
          <a:prstGeom prst="rect">
            <a:avLst/>
          </a:prstGeom>
          <a:solidFill>
            <a:srgbClr val="162232"/>
          </a:solidFill>
          <a:ln w="19050">
            <a:solidFill>
              <a:srgbClr val="E6394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73152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887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8379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history and scale of the threat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4114800" cy="1005840"/>
          </a:xfrm>
          <a:prstGeom prst="rect">
            <a:avLst/>
          </a:prstGeom>
          <a:solidFill>
            <a:srgbClr val="162232"/>
          </a:solidFill>
          <a:ln w="19050">
            <a:solidFill>
              <a:srgbClr val="F4A26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43000"/>
            <a:ext cx="73152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1887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10912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Phishing Emails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10912" y="18379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flags, anatomy of attacks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4114800" cy="1005840"/>
          </a:xfrm>
          <a:prstGeom prst="rect">
            <a:avLst/>
          </a:prstGeom>
          <a:solidFill>
            <a:srgbClr val="162232"/>
          </a:solidFill>
          <a:ln w="1905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77440"/>
            <a:ext cx="73152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423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" y="2834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Websites &amp; URLs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30723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attackers spoof trusted sites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377440"/>
            <a:ext cx="4114800" cy="1005840"/>
          </a:xfrm>
          <a:prstGeom prst="rect">
            <a:avLst/>
          </a:prstGeom>
          <a:solidFill>
            <a:srgbClr val="162232"/>
          </a:solidFill>
          <a:ln w="19050">
            <a:solidFill>
              <a:srgbClr val="2EC4B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377440"/>
            <a:ext cx="73152" cy="10058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2423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10912" y="2834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10912" y="30723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tricks attackers use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4114800" cy="1005840"/>
          </a:xfrm>
          <a:prstGeom prst="rect">
            <a:avLst/>
          </a:prstGeom>
          <a:solidFill>
            <a:srgbClr val="162232"/>
          </a:solidFill>
          <a:ln w="19050">
            <a:solidFill>
              <a:srgbClr val="F4A26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11880"/>
            <a:ext cx="73152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657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4069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" y="43068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breaches &amp; case studies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4114800" cy="1005840"/>
          </a:xfrm>
          <a:prstGeom prst="rect">
            <a:avLst/>
          </a:prstGeom>
          <a:solidFill>
            <a:srgbClr val="162232"/>
          </a:solidFill>
          <a:ln w="19050">
            <a:solidFill>
              <a:srgbClr val="2EC4B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11880"/>
            <a:ext cx="73152" cy="10058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3657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010912" y="4069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Tips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10912" y="43068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protect yourself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62232"/>
          </a:solidFill>
          <a:ln w="12700">
            <a:solidFill>
              <a:srgbClr val="1622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82296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8288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cyber-attack where criminals disguise themselves as trusted entities to steal sensitive information like passwords, credit card numbers, or company 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108960"/>
            <a:ext cx="3200400" cy="1371600"/>
          </a:xfrm>
          <a:prstGeom prst="rect">
            <a:avLst/>
          </a:prstGeom>
          <a:solidFill>
            <a:srgbClr val="1A0A0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200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 BILLION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every 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3977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Valimail, 2024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274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14800" y="822960"/>
            <a:ext cx="4663440" cy="685800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822960"/>
            <a:ext cx="64008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87782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115214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impersonating brands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1645920"/>
            <a:ext cx="4663440" cy="685800"/>
          </a:xfrm>
          <a:prstGeom prst="rect">
            <a:avLst/>
          </a:prstGeom>
          <a:solidFill>
            <a:srgbClr val="16223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1645920"/>
            <a:ext cx="64008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70078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197510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attacks on specific individuals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2468880"/>
            <a:ext cx="4663440" cy="685800"/>
          </a:xfrm>
          <a:prstGeom prst="rect">
            <a:avLst/>
          </a:prstGeom>
          <a:solidFill>
            <a:srgbClr val="16223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2468880"/>
            <a:ext cx="6400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25237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0" y="279806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executives &amp; high-value users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0" y="3291840"/>
            <a:ext cx="4663440" cy="685800"/>
          </a:xfrm>
          <a:prstGeom prst="rect">
            <a:avLst/>
          </a:prstGeom>
          <a:solidFill>
            <a:srgbClr val="16223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3291840"/>
            <a:ext cx="64008" cy="6858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33467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97680" y="362102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via SMS text messages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0" y="4114800"/>
            <a:ext cx="4663440" cy="685800"/>
          </a:xfrm>
          <a:prstGeom prst="rect">
            <a:avLst/>
          </a:prstGeom>
          <a:solidFill>
            <a:srgbClr val="16223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4114800"/>
            <a:ext cx="64008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416966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97680" y="444398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 phishing attacks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Recognizing Phishing Emails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16523" y="713231"/>
            <a:ext cx="8510954" cy="45719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4663440" cy="3931920"/>
          </a:xfrm>
          <a:prstGeom prst="rect">
            <a:avLst/>
          </a:prstGeom>
          <a:solidFill>
            <a:srgbClr val="0F1C2A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SUSPICIOUS EMAIL EXAMPLE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16152"/>
            <a:ext cx="4434840" cy="704088"/>
          </a:xfrm>
          <a:prstGeom prst="rect">
            <a:avLst/>
          </a:prstGeom>
          <a:solidFill>
            <a:srgbClr val="0D152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security@paypa1-verify.com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Verify your account NOW!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you@email.com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activity on your account. Your account will be SUSPENDED in 24 hours unless you verify immediately.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below or lose access FOREVER.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3456432"/>
            <a:ext cx="256032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4564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Account Now 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90448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http://paypa1-verify.com/secure/login?token=abc123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1208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Red Flags Identified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12080" y="1371600"/>
            <a:ext cx="3566160" cy="594360"/>
          </a:xfrm>
          <a:prstGeom prst="rect">
            <a:avLst/>
          </a:prstGeom>
          <a:solidFill>
            <a:srgbClr val="16223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85232" y="14173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87568" y="1417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sender domain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87568" y="168249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'paypa1' not 'paypal'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0" y="2057400"/>
            <a:ext cx="3566160" cy="594360"/>
          </a:xfrm>
          <a:prstGeom prst="rect">
            <a:avLst/>
          </a:prstGeom>
          <a:solidFill>
            <a:srgbClr val="16223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5232" y="21031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87568" y="21031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fear tactics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87568" y="236829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'24 hours', 'SUSPENDED'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12080" y="2743200"/>
            <a:ext cx="3566160" cy="594360"/>
          </a:xfrm>
          <a:prstGeom prst="rect">
            <a:avLst/>
          </a:prstGeom>
          <a:solidFill>
            <a:srgbClr val="16223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27889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87568" y="27889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87568" y="305409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'Dear Valued Customer'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12080" y="3429000"/>
            <a:ext cx="3566160" cy="594360"/>
          </a:xfrm>
          <a:prstGeom prst="rect">
            <a:avLst/>
          </a:prstGeom>
          <a:solidFill>
            <a:srgbClr val="16223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34747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87568" y="3474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URL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87568" y="373989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clicking!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212080" y="4114800"/>
            <a:ext cx="3566160" cy="594360"/>
          </a:xfrm>
          <a:prstGeom prst="rect">
            <a:avLst/>
          </a:prstGeom>
          <a:solidFill>
            <a:srgbClr val="16223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85232" y="41605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87568" y="41605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Threatening language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87568" y="442569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'lose access FOREVER'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Fake Websites &amp; Malicious URLs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58262" y="754379"/>
            <a:ext cx="8827476" cy="45719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vs. Fake — Can You Spot the Difference?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502920"/>
          </a:xfrm>
          <a:prstGeom prst="rect">
            <a:avLst/>
          </a:prstGeom>
          <a:solidFill>
            <a:srgbClr val="0A2A0A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44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https://www.paypal.com/signin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80560" y="1371600"/>
            <a:ext cx="3931920" cy="502920"/>
          </a:xfrm>
          <a:prstGeom prst="rect">
            <a:avLst/>
          </a:prstGeom>
          <a:solidFill>
            <a:srgbClr val="2A0A0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444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http://www.paypa1-secure.com/signin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Number '1' replaces letter 'l'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3931920" cy="502920"/>
          </a:xfrm>
          <a:prstGeom prst="rect">
            <a:avLst/>
          </a:prstGeom>
          <a:solidFill>
            <a:srgbClr val="0A2A0A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87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https://www.amazon.com/checkout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2514600"/>
            <a:ext cx="3931920" cy="502920"/>
          </a:xfrm>
          <a:prstGeom prst="rect">
            <a:avLst/>
          </a:prstGeom>
          <a:solidFill>
            <a:srgbClr val="2A0A0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587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https://amazon.com.order-verify.xyz/checkout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Real domain after the dot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3931920" cy="502920"/>
          </a:xfrm>
          <a:prstGeom prst="rect">
            <a:avLst/>
          </a:prstGeom>
          <a:solidFill>
            <a:srgbClr val="0A2A0A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30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https://bankofamerica.com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3657600"/>
            <a:ext cx="3931920" cy="502920"/>
          </a:xfrm>
          <a:prstGeom prst="rect">
            <a:avLst/>
          </a:prstGeom>
          <a:solidFill>
            <a:srgbClr val="2A0A0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730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https://bankofamerica.security-login.com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206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Extra subdomain added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1097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LEGITIMATE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1097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PHISHING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62232"/>
          </a:solidFill>
          <a:ln w="12700">
            <a:solidFill>
              <a:srgbClr val="1622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663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TIPS:  Always check for HTTPS  •  Look for the padlock icon  •  Hover over links before clicking  •  Never trust pop-up login screens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Social Engineering Tactics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 flipV="1">
            <a:off x="274320" y="690371"/>
            <a:ext cx="8595360" cy="45719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 psychology, not just technology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1645920"/>
          </a:xfrm>
          <a:prstGeom prst="rect">
            <a:avLst/>
          </a:prstGeom>
          <a:solidFill>
            <a:srgbClr val="162232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27432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716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URGENCY &amp; FEAR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737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panic to bypass rational thinking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deleted in 1 hour!"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743200" cy="1645920"/>
          </a:xfrm>
          <a:prstGeom prst="rect">
            <a:avLst/>
          </a:prstGeom>
          <a:solidFill>
            <a:srgbClr val="16223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234440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3716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 AUTHORITY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737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bosses, banks, or government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148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the IRS. You owe back taxes."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1234440"/>
            <a:ext cx="2743200" cy="1645920"/>
          </a:xfrm>
          <a:prstGeom prst="rect">
            <a:avLst/>
          </a:prstGeom>
          <a:solidFill>
            <a:srgbClr val="16223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234440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3716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PRETEXTING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81928" y="17373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fake scenario to seem legitimate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148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"Hi, I'm from IT. We need your login to fix your account."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2743200" cy="1645920"/>
          </a:xfrm>
          <a:prstGeom prst="rect">
            <a:avLst/>
          </a:prstGeom>
          <a:solidFill>
            <a:srgbClr val="162232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063240"/>
            <a:ext cx="274320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2004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RECIPROCITY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3566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something free to get something back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977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"You've won a prize! Just verify your details."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3063240"/>
            <a:ext cx="2743200" cy="1645920"/>
          </a:xfrm>
          <a:prstGeom prst="rect">
            <a:avLst/>
          </a:prstGeom>
          <a:solidFill>
            <a:srgbClr val="16223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3063240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32004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SOCIAL PROOF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55848" y="3566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targets feel others have already complied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3977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"Everyone on your team has already updated their password."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3063240"/>
            <a:ext cx="2743200" cy="1645920"/>
          </a:xfrm>
          <a:prstGeom prst="rect">
            <a:avLst/>
          </a:prstGeom>
          <a:solidFill>
            <a:srgbClr val="162232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3063240"/>
            <a:ext cx="27432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32004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FAMILIARITY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81928" y="3566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names of colleagues or friends to build trust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977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"John from accounting told me to contact you."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Real-World Examples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 flipV="1">
            <a:off x="267286" y="667513"/>
            <a:ext cx="8609428" cy="45719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4340"/>
            <a:ext cx="8412480" cy="1188720"/>
          </a:xfrm>
          <a:prstGeom prst="rect">
            <a:avLst/>
          </a:prstGeom>
          <a:solidFill>
            <a:srgbClr val="162232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2296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33272"/>
            <a:ext cx="658368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61872" y="101498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Democratic National Committee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0887" y="1280160"/>
            <a:ext cx="1463040" cy="237744"/>
          </a:xfrm>
          <a:prstGeom prst="rect">
            <a:avLst/>
          </a:prstGeom>
          <a:solidFill>
            <a:srgbClr val="E63946">
              <a:alpha val="3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051560"/>
            <a:ext cx="238447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</a:t>
            </a:r>
          </a:p>
          <a:p>
            <a:pPr marL="0" indent="0" algn="ctr">
              <a:buNone/>
            </a:pPr>
            <a:endParaRPr lang="en-US" sz="900" b="1" dirty="0">
              <a:solidFill>
                <a:srgbClr val="E639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900" b="1" dirty="0">
              <a:solidFill>
                <a:srgbClr val="E639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Spear Phishing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61872" y="13258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spear phishing email tricked a campaign chairman into revealing his Gmail password. Hackers gained access to thousands of emails.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14813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~50,000 emails leaked; major political fallout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61872" y="18013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Two-factor authentication could have prevented this.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276856"/>
            <a:ext cx="8412480" cy="1188720"/>
          </a:xfrm>
          <a:prstGeom prst="rect">
            <a:avLst/>
          </a:prstGeom>
          <a:solidFill>
            <a:srgbClr val="16223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286000"/>
            <a:ext cx="82296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359152"/>
            <a:ext cx="658368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5915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61872" y="234086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86268" y="2631362"/>
            <a:ext cx="1463040" cy="237744"/>
          </a:xfrm>
          <a:prstGeom prst="rect">
            <a:avLst/>
          </a:prstGeom>
          <a:solidFill>
            <a:srgbClr val="F4A261">
              <a:alpha val="3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2377440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</a:t>
            </a:r>
          </a:p>
          <a:p>
            <a:pPr marL="0" indent="0" algn="ctr">
              <a:buNone/>
            </a:pPr>
            <a:endParaRPr lang="en-US" sz="900" b="1" dirty="0">
              <a:solidFill>
                <a:srgbClr val="F4A2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900" b="1" dirty="0">
              <a:solidFill>
                <a:srgbClr val="F4A2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900" b="1" dirty="0">
              <a:solidFill>
                <a:srgbClr val="F4A2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Vishing + Social Engineering  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61872" y="26517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called Twitter employees posing as IT support and convinced them to give access to internal admin tools.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28529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130 high-profile accounts hijacked; $120K in crypto stolen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61872" y="31272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Verify caller identity through official channels before acting.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16223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11880"/>
            <a:ext cx="82296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685032"/>
            <a:ext cx="658368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85032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61872" y="366674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Technologies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86268" y="3758184"/>
            <a:ext cx="1463040" cy="237744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94960" y="3758184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MFA Fatigue Attack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61872" y="397764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posed as Uber IT, bombarded employee with MFA prompts until they approved, then accessed internal systems.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40325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Full internal network access, source code, and data exposed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61872" y="44531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Report suspicious MFA requests; never approve prompts you didn't initiate.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Best Practices &amp; How to Stay Safe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72329" y="704088"/>
            <a:ext cx="8799342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86968"/>
            <a:ext cx="4160520" cy="822960"/>
          </a:xfrm>
          <a:prstGeom prst="rect">
            <a:avLst/>
          </a:prstGeom>
          <a:solidFill>
            <a:srgbClr val="16223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1042416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42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960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2527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verification layer beyond your password on all accounts.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886968"/>
            <a:ext cx="4160520" cy="822960"/>
          </a:xfrm>
          <a:prstGeom prst="rect">
            <a:avLst/>
          </a:prstGeom>
          <a:solidFill>
            <a:srgbClr val="16223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0328" y="1042416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042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68112" y="960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You Click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68112" y="12527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hover over links to preview the real URL before clicking.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892808"/>
            <a:ext cx="4160520" cy="822960"/>
          </a:xfrm>
          <a:prstGeom prst="rect">
            <a:avLst/>
          </a:prstGeom>
          <a:solidFill>
            <a:srgbClr val="16223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" y="2048256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7552" y="1965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Senders Independently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22585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 doubt, call or message the sender directly via known contact details.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892808"/>
            <a:ext cx="4160520" cy="822960"/>
          </a:xfrm>
          <a:prstGeom prst="rect">
            <a:avLst/>
          </a:prstGeom>
          <a:solidFill>
            <a:srgbClr val="16223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0328" y="2048256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68112" y="1965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Passwords or OTPs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68112" y="22585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legitimate company will ever ask for your password or OTP code.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898648"/>
            <a:ext cx="4160520" cy="822960"/>
          </a:xfrm>
          <a:prstGeom prst="rect">
            <a:avLst/>
          </a:prstGeom>
          <a:solidFill>
            <a:srgbClr val="16223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" y="3054096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7552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7552" y="32644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your OS, browser, and apps to close security vulnerabilities.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898648"/>
            <a:ext cx="4160520" cy="822960"/>
          </a:xfrm>
          <a:prstGeom prst="rect">
            <a:avLst/>
          </a:prstGeom>
          <a:solidFill>
            <a:srgbClr val="16223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10328" y="3054096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68112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68112" y="32644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'Report Phishing' in your email client; alert your IT/security team.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904488"/>
            <a:ext cx="4160520" cy="822960"/>
          </a:xfrm>
          <a:prstGeom prst="rect">
            <a:avLst/>
          </a:prstGeom>
          <a:solidFill>
            <a:srgbClr val="16223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768" y="4059936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87552" y="3977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87552" y="42702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unique passwords for every account — no reuse!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904488"/>
            <a:ext cx="4160520" cy="822960"/>
          </a:xfrm>
          <a:prstGeom prst="rect">
            <a:avLst/>
          </a:prstGeom>
          <a:solidFill>
            <a:srgbClr val="16223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10328" y="4059936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0328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68112" y="3977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Your Instincts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68112" y="42702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feels off, it probably is. Slow down and verify.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 KNOWLEDGE CHECK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Phishing Awareness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An email from 'support@paypa1.com' asks you to verify your account urgently. What do you do?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023360" cy="338328"/>
          </a:xfrm>
          <a:prstGeom prst="rect">
            <a:avLst/>
          </a:prstGeom>
          <a:solidFill>
            <a:srgbClr val="1622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636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Click the link immediately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023360" cy="338328"/>
          </a:xfrm>
          <a:prstGeom prst="rect">
            <a:avLst/>
          </a:prstGeom>
          <a:solidFill>
            <a:srgbClr val="0A2A0A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751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Check the sender domain carefully — 'paypa1' is not 'paypal'  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508760"/>
            <a:ext cx="4023360" cy="338328"/>
          </a:xfrm>
          <a:prstGeom prst="rect">
            <a:avLst/>
          </a:prstGeom>
          <a:solidFill>
            <a:srgbClr val="1622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636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Forward to a colleague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920240"/>
            <a:ext cx="4023360" cy="338328"/>
          </a:xfrm>
          <a:prstGeom prst="rect">
            <a:avLst/>
          </a:prstGeom>
          <a:solidFill>
            <a:srgbClr val="1622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9751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Reply asking for more info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2296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Your CEO emails you asking for an urgent wire transfer. The email looks real. What's the FIRST thing to do?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80944"/>
            <a:ext cx="4023360" cy="338328"/>
          </a:xfrm>
          <a:prstGeom prst="rect">
            <a:avLst/>
          </a:prstGeom>
          <a:solidFill>
            <a:srgbClr val="1622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358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Process it — the CEO wouldn't lie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92424"/>
            <a:ext cx="4023360" cy="338328"/>
          </a:xfrm>
          <a:prstGeom prst="rect">
            <a:avLst/>
          </a:prstGeom>
          <a:solidFill>
            <a:srgbClr val="0A2A0A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472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Call the CEO directly on a known number to verify  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980944"/>
            <a:ext cx="4023360" cy="338328"/>
          </a:xfrm>
          <a:prstGeom prst="rect">
            <a:avLst/>
          </a:prstGeom>
          <a:solidFill>
            <a:srgbClr val="1622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0358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Email back asking for confirmation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3392424"/>
            <a:ext cx="4023360" cy="338328"/>
          </a:xfrm>
          <a:prstGeom prst="rect">
            <a:avLst/>
          </a:prstGeom>
          <a:solidFill>
            <a:srgbClr val="1622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4472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Check if it's over your approval limit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2232"/>
          </a:solidFill>
          <a:ln w="12700">
            <a:solidFill>
              <a:srgbClr val="1622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09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Correct Answer  •  Always verify before acting  •  When in doubt, don't click!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 These 5 Golden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554480" cy="3108960"/>
          </a:xfrm>
          <a:prstGeom prst="rect">
            <a:avLst/>
          </a:prstGeom>
          <a:solidFill>
            <a:srgbClr val="162232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155448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🛑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react immediately to urgent requests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84832" y="1005840"/>
            <a:ext cx="1554480" cy="3108960"/>
          </a:xfrm>
          <a:prstGeom prst="rect">
            <a:avLst/>
          </a:prstGeom>
          <a:solidFill>
            <a:srgbClr val="16223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1005840"/>
            <a:ext cx="155448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84832" y="10972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🤔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84832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76272" y="21945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Is this expected? Does it make sense?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03904" y="1005840"/>
            <a:ext cx="1554480" cy="3108960"/>
          </a:xfrm>
          <a:prstGeom prst="rect">
            <a:avLst/>
          </a:prstGeom>
          <a:solidFill>
            <a:srgbClr val="16223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03904" y="1005840"/>
            <a:ext cx="155448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03904" y="10972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803904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95344" y="21945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sender, URL, and content before acting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22976" y="1005840"/>
            <a:ext cx="1554480" cy="3108960"/>
          </a:xfrm>
          <a:prstGeom prst="rect">
            <a:avLst/>
          </a:prstGeom>
          <a:solidFill>
            <a:srgbClr val="162232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22976" y="1005840"/>
            <a:ext cx="155448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22976" y="10972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22976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14416" y="21945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via another channel if still unsure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42048" y="1005840"/>
            <a:ext cx="1554480" cy="3108960"/>
          </a:xfrm>
          <a:prstGeom prst="rect">
            <a:avLst/>
          </a:prstGeom>
          <a:solidFill>
            <a:srgbClr val="16223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42048" y="1005840"/>
            <a:ext cx="155448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109728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242048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33488" y="219456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your IT/security team about anything suspicious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62232"/>
          </a:solidFill>
          <a:ln w="12700">
            <a:solidFill>
              <a:srgbClr val="1622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You are the FIRST line of defense against phishing attacks.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  •  Phishing Awareness Training  •  Stay Vigilant, Stay Secure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1082</Words>
  <Application>Microsoft Office PowerPoint</Application>
  <PresentationFormat>On-screen Show (16:9)</PresentationFormat>
  <Paragraphs>195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CodeAlpha Internship</dc:creator>
  <cp:lastModifiedBy>HP PROBOOK</cp:lastModifiedBy>
  <cp:revision>2</cp:revision>
  <dcterms:created xsi:type="dcterms:W3CDTF">2026-06-07T05:54:51Z</dcterms:created>
  <dcterms:modified xsi:type="dcterms:W3CDTF">2026-06-07T06:24:19Z</dcterms:modified>
</cp:coreProperties>
</file>